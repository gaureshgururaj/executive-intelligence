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8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6272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37.png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4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13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4.png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55.png"/><Relationship Id="rId9" Type="http://schemas.openxmlformats.org/officeDocument/2006/relationships/image" Target="../media/image5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56.png"/><Relationship Id="rId4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6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28.png"/><Relationship Id="rId4" Type="http://schemas.openxmlformats.org/officeDocument/2006/relationships/image" Target="../media/image6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9.png"/><Relationship Id="rId4" Type="http://schemas.openxmlformats.org/officeDocument/2006/relationships/image" Target="../media/image68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png"/><Relationship Id="rId7" Type="http://schemas.openxmlformats.org/officeDocument/2006/relationships/image" Target="../media/image7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Relationship Id="rId9" Type="http://schemas.openxmlformats.org/officeDocument/2006/relationships/image" Target="../media/image7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097280"/>
            <a:ext cx="5029200" cy="5029200"/>
          </a:xfrm>
          <a:prstGeom prst="roundRect">
            <a:avLst>
              <a:gd name="adj" fmla="val 5455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3291840"/>
            <a:ext cx="4114800" cy="4114800"/>
          </a:xfrm>
          <a:prstGeom prst="roundRect">
            <a:avLst>
              <a:gd name="adj" fmla="val 6667"/>
            </a:avLst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515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" y="2148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3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• TEST • DEPLOY • OPERATE • SCALE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21792" y="25603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AI-Powered Executive</a:t>
            </a:r>
            <a:endParaRPr lang="en-US" sz="46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Intelligence Platform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452628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Engineering Onboarding Guide — the complete lifecycle of building a modern, agent-based enterprise application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58368" y="5577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58368" y="5577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New Engineers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80360" y="5577840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2880360" y="55778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55778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this guide covers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724912" cy="475488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49808" y="22128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 &amp; What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578608"/>
            <a:ext cx="23225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 &amp; objectives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requirements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392424" y="1371600"/>
            <a:ext cx="2724912" cy="475488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93592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1691640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22128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2578608"/>
            <a:ext cx="23225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 &amp; integrations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AI/LLM design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236208" y="1371600"/>
            <a:ext cx="2724912" cy="475488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437376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691640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37376" y="22128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Build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437376" y="2578608"/>
            <a:ext cx="23225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 &amp; Git flow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&amp; the testing pyramid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IaC &amp; environments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079992" y="1371600"/>
            <a:ext cx="2724912" cy="475488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281160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2" y="169164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81160" y="22128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Operate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281160" y="2578608"/>
            <a:ext cx="2322576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observability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Maintenance, scaling, best practices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top-to-bottom: each section builds on the last. Nothing here assumes prior enterprise experience.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0624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484632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1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3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WHY &amp; WHAT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2918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Project Overview,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Problem &amp; Objectives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800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 single line of code: what we are building, for whom, and why it matters.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are we building?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86400" cy="4846320"/>
          </a:xfrm>
          <a:prstGeom prst="roundRect">
            <a:avLst>
              <a:gd name="adj" fmla="val 1698"/>
            </a:avLst>
          </a:prstGeom>
          <a:solidFill>
            <a:srgbClr val="0F1E3D"/>
          </a:solidFill>
          <a:ln/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600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3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single destination for technology leaders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49834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 platform that tracks AI trends, news, and influential research in near real time.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collected, summarized, and categorized by autonomous AI agents — not by a manual editorial team.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Executives get personalized dashboards; summaries turn dense research into business-readable insight.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pay per tier; admins configure sources and moderate content.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1325880"/>
            <a:ext cx="53949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64808" y="15270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645920"/>
            <a:ext cx="329184" cy="32918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64808" y="216712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64808" y="2532888"/>
            <a:ext cx="49926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CEOs, CTOs, CIOs, engineering managers, product leads, and architects who must stay current on AI to steer their teams.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63640" y="3794760"/>
            <a:ext cx="539496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464808" y="399592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114800"/>
            <a:ext cx="329184" cy="32918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464808" y="4636008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it different (and hard)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6464808" y="5001768"/>
            <a:ext cx="49926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runs itself. Four AI agents do the daily work. That means we are building a data pipeline, an agent system, and a SaaS product at once — this deck teaches all three.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problem, and what success looks like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2A1F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241C2E"/>
          </a:solidFill>
          <a:ln/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72768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81328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1481328" y="178308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E6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moves faster than any leader can track. News, models, and research arrive daily across hundreds of sources. Decision-makers either drown in noise or fall behind — both are expensive.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880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— how we'll know it works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337560"/>
            <a:ext cx="2724912" cy="278892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9808" y="353872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65760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49808" y="41788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749808" y="4544568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trusted sources &amp; research automatically, in real time and on schedule.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392424" y="3337560"/>
            <a:ext cx="2724912" cy="278892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3593592" y="353872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464" y="365760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593592" y="41788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3593592" y="4544568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dense papers into business-readable takeaways with clear impact.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236208" y="3337560"/>
            <a:ext cx="2724912" cy="278892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6437376" y="353872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365760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437376" y="41788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6437376" y="4544568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user's followed topics, companies, and domains.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9079992" y="3337560"/>
            <a:ext cx="2724912" cy="278892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9281160" y="353872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0032" y="365760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9281160" y="41788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Assure quality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9281160" y="4544568"/>
            <a:ext cx="232257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De-duplicate, fact-check, and gate every item before it publishes.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Functional vs. Non-Functional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44068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5440680" cy="4846320"/>
          </a:xfrm>
          <a:prstGeom prst="roundRect">
            <a:avLst>
              <a:gd name="adj" fmla="val 169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5440680" cy="640080"/>
          </a:xfrm>
          <a:prstGeom prst="roundRect">
            <a:avLst>
              <a:gd name="adj" fmla="val 1285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72200" y="1325880"/>
            <a:ext cx="5440680" cy="640080"/>
          </a:xfrm>
          <a:prstGeom prst="roundRect">
            <a:avLst>
              <a:gd name="adj" fmla="val 12857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1371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— what it does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355080" y="1371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— how well it does it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1488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dashboard with topic categorization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insights with AI executive summaries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feed; follow topics/companies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accounts, bookmarks, preferences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plans &amp; secure billing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portal: sources, moderation, RBAC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1488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— encryption, RBAC, audit logs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— horizontal scaling of ingestion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— read path survives agent outages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cached reads, isolated batch jobs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 robots.txt &amp; source terms respected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— every action traceable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functional = features on a checklist. Non-functional = the qualities that get you paged at 2am if ignored.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0624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484632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2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3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2918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Solution Architecture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&amp; System Design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800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layers, the components, how they connect, and where the AI lives.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stack, top to bottom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82296" cy="512064"/>
          </a:xfrm>
          <a:prstGeom prst="rect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31520" y="128016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749040" y="1280160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931920" y="128016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 · shadcn/ui · Tailwind · Vercel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42516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1842516"/>
            <a:ext cx="82296" cy="512064"/>
          </a:xfrm>
          <a:prstGeom prst="rect">
            <a:avLst/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31520" y="184251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Billing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749040" y="1842516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3931920" y="1842516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(RBAC) · Stripe subscriptions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2404872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2404872"/>
            <a:ext cx="82296" cy="512064"/>
          </a:xfrm>
          <a:prstGeom prst="rect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240487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Edge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749040" y="2404872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931920" y="240487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Server-Sent Events · rate limiting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967228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2967228"/>
            <a:ext cx="82296" cy="512064"/>
          </a:xfrm>
          <a:prstGeom prst="rect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31520" y="296722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Gateway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749040" y="2967228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931920" y="296722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routing · summarization models · key mgmt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529584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48640" y="3529584"/>
            <a:ext cx="82296" cy="5120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731520" y="352958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749040" y="3529584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3931920" y="3529584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2.0 — task graphs, loops, HITL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091940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48640" y="4091940"/>
            <a:ext cx="82296" cy="51206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731520" y="4091940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Middleware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3749040" y="4091940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3931920" y="4091940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 — controlled tool/data access for agents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4654296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48640" y="4654296"/>
            <a:ext cx="82296" cy="512064"/>
          </a:xfrm>
          <a:prstGeom prst="rect">
            <a:avLst/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731520" y="4654296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Tasks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3749040" y="4654296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3931920" y="4654296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— arXiv crons, RSS, enrichment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48640" y="5216652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48640" y="5216652"/>
            <a:ext cx="82296" cy="512064"/>
          </a:xfrm>
          <a:prstGeom prst="rect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731520" y="5216652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3749040" y="5216652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3931920" y="5216652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Pinecone · object storage · search index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48640" y="5779008"/>
            <a:ext cx="3108960" cy="512064"/>
          </a:xfrm>
          <a:prstGeom prst="roundRect">
            <a:avLst>
              <a:gd name="adj" fmla="val 10714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48640" y="5779008"/>
            <a:ext cx="82296" cy="512064"/>
          </a:xfrm>
          <a:prstGeom prst="rect">
            <a:avLst/>
          </a:prstGeom>
          <a:solidFill>
            <a:srgbClr val="9B8C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731520" y="5779008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 &amp; Safety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3749040" y="5779008"/>
            <a:ext cx="78638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3931920" y="5779008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· Sentry · Pydantic schemas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 rot="5400000">
            <a:off x="11658600" y="1371600"/>
            <a:ext cx="457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content flows up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Key components &amp; external integrations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2128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(Next.js)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578608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trend feed, account UI. Consumes the live SSE stream.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92424" y="137160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93592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16916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93592" y="22128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+ Stripe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3593592" y="2578608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Identity, RBAC across both portals, plans, invoicing, entitlements.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36208" y="137160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37376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6916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22128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2578608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endpoints, SSE streaming, validation, rate limiting.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79992" y="137160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281160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2" y="169164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81160" y="221284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ADK 2.0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9281160" y="2578608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four agents as nodes in a task graph with retries &amp; HITL.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548640" y="384048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749808" y="40416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16052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49808" y="46817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749808" y="5047488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arXiv jobs, RSS listeners, enrichment, caching.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3392424" y="384048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3593592" y="40416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2464" y="4160520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593592" y="46817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Pinecone</a:t>
            </a:r>
            <a:endParaRPr lang="en-US" sz="1350" dirty="0"/>
          </a:p>
        </p:txBody>
      </p:sp>
      <p:sp>
        <p:nvSpPr>
          <p:cNvPr id="34" name="Text 26"/>
          <p:cNvSpPr txBox="1"/>
          <p:nvPr/>
        </p:nvSpPr>
        <p:spPr>
          <a:xfrm>
            <a:off x="3593592" y="5047488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data plus vector embeddings for search &amp; recs.</a:t>
            </a:r>
            <a:endParaRPr lang="en-US" sz="1150" dirty="0"/>
          </a:p>
        </p:txBody>
      </p:sp>
      <p:sp>
        <p:nvSpPr>
          <p:cNvPr id="35" name="Shape 27"/>
          <p:cNvSpPr/>
          <p:nvPr/>
        </p:nvSpPr>
        <p:spPr>
          <a:xfrm>
            <a:off x="6236208" y="384048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8"/>
          <p:cNvSpPr/>
          <p:nvPr/>
        </p:nvSpPr>
        <p:spPr>
          <a:xfrm>
            <a:off x="6437376" y="40416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6248" y="4160520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437376" y="46817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index</a:t>
            </a:r>
            <a:endParaRPr lang="en-US" sz="1350" dirty="0"/>
          </a:p>
        </p:txBody>
      </p:sp>
      <p:sp>
        <p:nvSpPr>
          <p:cNvPr id="39" name="Text 30"/>
          <p:cNvSpPr txBox="1"/>
          <p:nvPr/>
        </p:nvSpPr>
        <p:spPr>
          <a:xfrm>
            <a:off x="6437376" y="5047488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Keyword, faceted &amp; trending search over articles and papers.</a:t>
            </a:r>
            <a:endParaRPr lang="en-US" sz="1150" dirty="0"/>
          </a:p>
        </p:txBody>
      </p:sp>
      <p:sp>
        <p:nvSpPr>
          <p:cNvPr id="40" name="Shape 31"/>
          <p:cNvSpPr/>
          <p:nvPr/>
        </p:nvSpPr>
        <p:spPr>
          <a:xfrm>
            <a:off x="9079992" y="3840480"/>
            <a:ext cx="2724912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2"/>
          <p:cNvSpPr/>
          <p:nvPr/>
        </p:nvSpPr>
        <p:spPr>
          <a:xfrm>
            <a:off x="9281160" y="40416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9B8C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0032" y="4160520"/>
            <a:ext cx="329184" cy="329184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281160" y="468172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Langfuse + Sentry</a:t>
            </a:r>
            <a:endParaRPr lang="en-US" sz="1350" dirty="0"/>
          </a:p>
        </p:txBody>
      </p:sp>
      <p:sp>
        <p:nvSpPr>
          <p:cNvPr id="44" name="Text 34"/>
          <p:cNvSpPr txBox="1"/>
          <p:nvPr/>
        </p:nvSpPr>
        <p:spPr>
          <a:xfrm>
            <a:off x="9281160" y="5047488"/>
            <a:ext cx="23225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traces plus application &amp; frontend error tracking.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the agents actually 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 DESIGN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563624"/>
            <a:ext cx="310896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94944" y="1892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2130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· crawl · arXiv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450592" y="1801368"/>
            <a:ext cx="320040" cy="274320"/>
          </a:xfrm>
          <a:prstGeom prst="rightArrow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834640" y="14173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F1E3D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1563624"/>
            <a:ext cx="310896" cy="31089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80944" y="18928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agents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2980944" y="21305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· Research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4873752" y="1801368"/>
            <a:ext cx="320040" cy="274320"/>
          </a:xfrm>
          <a:prstGeom prst="rightArrow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5257800" y="1417320"/>
            <a:ext cx="1965960" cy="1051560"/>
          </a:xfrm>
          <a:prstGeom prst="roundRect">
            <a:avLst>
              <a:gd name="adj" fmla="val 6957"/>
            </a:avLst>
          </a:prstGeom>
          <a:solidFill>
            <a:srgbClr val="0F1E3D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4104" y="1563624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404104" y="189280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404104" y="213055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· fact-check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7296912" y="1801368"/>
            <a:ext cx="320040" cy="274320"/>
          </a:xfrm>
          <a:prstGeom prst="rightArrow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7680960" y="14173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64" y="1563624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827264" y="1892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+ store</a:t>
            </a:r>
            <a:endParaRPr lang="en-US" sz="1150" dirty="0"/>
          </a:p>
        </p:txBody>
      </p:sp>
      <p:sp>
        <p:nvSpPr>
          <p:cNvPr id="23" name="Text 17"/>
          <p:cNvSpPr txBox="1"/>
          <p:nvPr/>
        </p:nvSpPr>
        <p:spPr>
          <a:xfrm>
            <a:off x="7827264" y="21305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· Pinecone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9582912" y="1801368"/>
            <a:ext cx="320040" cy="274320"/>
          </a:xfrm>
          <a:prstGeom prst="rightArrow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9966960" y="141732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3264" y="1563624"/>
            <a:ext cx="310896" cy="31089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113264" y="1892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8" name="Text 21"/>
          <p:cNvSpPr txBox="1"/>
          <p:nvPr/>
        </p:nvSpPr>
        <p:spPr>
          <a:xfrm>
            <a:off x="10113264" y="213055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548640" y="274320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749808" y="29443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3063240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49808" y="358444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(ADK 2.0)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749808" y="3950208"/>
            <a:ext cx="31638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nodes in a graph, not a loose script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routing, loops &amp; retries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for risky steps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run is traced end-to-end</a:t>
            </a:r>
            <a:endParaRPr lang="en-US" sz="1200" dirty="0"/>
          </a:p>
        </p:txBody>
      </p:sp>
      <p:sp>
        <p:nvSpPr>
          <p:cNvPr id="34" name="Shape 26"/>
          <p:cNvSpPr/>
          <p:nvPr/>
        </p:nvSpPr>
        <p:spPr>
          <a:xfrm>
            <a:off x="4297680" y="274320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7"/>
          <p:cNvSpPr/>
          <p:nvPr/>
        </p:nvSpPr>
        <p:spPr>
          <a:xfrm>
            <a:off x="4498848" y="29443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3063240"/>
            <a:ext cx="329184" cy="329184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4498848" y="358444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(FastMCP)</a:t>
            </a:r>
            <a:endParaRPr lang="en-US" sz="1500" dirty="0"/>
          </a:p>
        </p:txBody>
      </p:sp>
      <p:sp>
        <p:nvSpPr>
          <p:cNvPr id="38" name="Text 29"/>
          <p:cNvSpPr txBox="1"/>
          <p:nvPr/>
        </p:nvSpPr>
        <p:spPr>
          <a:xfrm>
            <a:off x="4498848" y="3950208"/>
            <a:ext cx="31638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never touch the DB directly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data exposed via context servers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Least-privilege access per agent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validates every in/out</a:t>
            </a:r>
            <a:endParaRPr lang="en-US" sz="1200" dirty="0"/>
          </a:p>
        </p:txBody>
      </p:sp>
      <p:sp>
        <p:nvSpPr>
          <p:cNvPr id="39" name="Shape 30"/>
          <p:cNvSpPr/>
          <p:nvPr/>
        </p:nvSpPr>
        <p:spPr>
          <a:xfrm>
            <a:off x="8046720" y="2743200"/>
            <a:ext cx="3566160" cy="33832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1"/>
          <p:cNvSpPr/>
          <p:nvPr/>
        </p:nvSpPr>
        <p:spPr>
          <a:xfrm>
            <a:off x="8247888" y="29443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6760" y="3063240"/>
            <a:ext cx="329184" cy="329184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8247888" y="358444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gateway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8247888" y="3950208"/>
            <a:ext cx="316382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abstraction for all LLM calls (LiteLLM)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by task; swap providers freely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keys, retries, fallback</a:t>
            </a:r>
            <a:endParaRPr lang="en-US" sz="1200" dirty="0"/>
          </a:p>
          <a:p>
            <a:pPr marL="152400" indent="-152400">
              <a:lnSpc>
                <a:spcPts val="16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Per-agent model &amp; token budgets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design — polyglot persistence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21284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source of truth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578608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subscriptions, sources, content metadata, categories, follows, bookmarks. Anything transactional and relational.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37160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49884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16916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98848" y="221284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— vectors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498848" y="2578608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of articles &amp; papers for semantic search and 'more like this' recommendations.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046720" y="1371600"/>
            <a:ext cx="356616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24788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6916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247888" y="2212848"/>
            <a:ext cx="3163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+ search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247888" y="2578608"/>
            <a:ext cx="31638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HTML &amp; source PDFs in S3/GCS/R2; a search index (Typesense/Postgres FTS) for keyword &amp; faceted queries.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4069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relational tables (starter schema)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548640" y="452628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548640" y="45262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1682496" y="452628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1682496" y="45262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2816352" y="452628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2816352" y="45262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3950208" y="452628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 txBox="1"/>
          <p:nvPr/>
        </p:nvSpPr>
        <p:spPr>
          <a:xfrm>
            <a:off x="3950208" y="45262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5084064" y="452628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 txBox="1"/>
          <p:nvPr/>
        </p:nvSpPr>
        <p:spPr>
          <a:xfrm>
            <a:off x="5084064" y="45262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papers</a:t>
            </a:r>
            <a:endParaRPr lang="en-US" sz="1050" dirty="0"/>
          </a:p>
        </p:txBody>
      </p:sp>
      <p:sp>
        <p:nvSpPr>
          <p:cNvPr id="31" name="Shape 26"/>
          <p:cNvSpPr/>
          <p:nvPr/>
        </p:nvSpPr>
        <p:spPr>
          <a:xfrm>
            <a:off x="6217920" y="452628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6217920" y="45262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50" dirty="0"/>
          </a:p>
        </p:txBody>
      </p:sp>
      <p:sp>
        <p:nvSpPr>
          <p:cNvPr id="33" name="Shape 28"/>
          <p:cNvSpPr/>
          <p:nvPr/>
        </p:nvSpPr>
        <p:spPr>
          <a:xfrm>
            <a:off x="7351776" y="452628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7351776" y="45262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8485632" y="452628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8485632" y="45262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9619488" y="452628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3"/>
          <p:cNvSpPr txBox="1"/>
          <p:nvPr/>
        </p:nvSpPr>
        <p:spPr>
          <a:xfrm>
            <a:off x="9619488" y="45262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agent_runs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10753344" y="4526280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 txBox="1"/>
          <p:nvPr/>
        </p:nvSpPr>
        <p:spPr>
          <a:xfrm>
            <a:off x="10753344" y="4526280"/>
            <a:ext cx="10789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audit_log</a:t>
            </a:r>
            <a:endParaRPr lang="en-US" sz="1050" dirty="0"/>
          </a:p>
        </p:txBody>
      </p:sp>
      <p:sp>
        <p:nvSpPr>
          <p:cNvPr id="41" name="Text 36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tips: </a:t>
            </a: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UUID keys, timestamp everything, keep large blobs out of Postgres, index the columns you filter on, and never store secrets in tables.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0624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484632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3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3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2918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Process, Standards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&amp; the Testing Discipline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800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flow, clean Git history, TDD, and a testing pyramid you can trust.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How we work: Agile + DevOps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21284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in practice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578608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sprints; small, shippable increments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standup, sprint planning, retro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tracked as tickets in Jira/Linear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'Definition of Done' includes tests + docs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7336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916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73368" y="221284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mindset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373368" y="2578608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build it, you run it — own your code in prod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everything you'd otherwise repeat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feedback loops over big-bang releases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Blameless culture when things break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11064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77724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standards — non-negotiables</a:t>
            </a:r>
            <a:endParaRPr lang="en-US" sz="14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5262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4440" y="4507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&amp; lint</a:t>
            </a:r>
            <a:endParaRPr lang="en-US" sz="1250" dirty="0"/>
          </a:p>
        </p:txBody>
      </p:sp>
      <p:sp>
        <p:nvSpPr>
          <p:cNvPr id="19" name="Text 14"/>
          <p:cNvSpPr txBox="1"/>
          <p:nvPr/>
        </p:nvSpPr>
        <p:spPr>
          <a:xfrm>
            <a:off x="777240" y="4983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Ruff/Black (Py), ESLint/Prettier (TS). Enforced in CI.</a:t>
            </a:r>
            <a:endParaRPr lang="en-US" sz="110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45262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977640" y="4507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everywhere</a:t>
            </a:r>
            <a:endParaRPr lang="en-US" sz="1250" dirty="0"/>
          </a:p>
        </p:txBody>
      </p:sp>
      <p:sp>
        <p:nvSpPr>
          <p:cNvPr id="22" name="Text 16"/>
          <p:cNvSpPr txBox="1"/>
          <p:nvPr/>
        </p:nvSpPr>
        <p:spPr>
          <a:xfrm>
            <a:off x="3520440" y="4983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type hints + Pydantic; TypeScript strict mode.</a:t>
            </a:r>
            <a:endParaRPr lang="en-US" sz="11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4526280"/>
            <a:ext cx="365760" cy="3657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720840" y="4507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PRs</a:t>
            </a:r>
            <a:endParaRPr lang="en-US" sz="1250" dirty="0"/>
          </a:p>
        </p:txBody>
      </p:sp>
      <p:sp>
        <p:nvSpPr>
          <p:cNvPr id="25" name="Text 18"/>
          <p:cNvSpPr txBox="1"/>
          <p:nvPr/>
        </p:nvSpPr>
        <p:spPr>
          <a:xfrm>
            <a:off x="6263640" y="4983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~400 lines, one concern, clear description.</a:t>
            </a:r>
            <a:endParaRPr lang="en-US" sz="1100" dirty="0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452628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9464040" y="450799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as you go</a:t>
            </a:r>
            <a:endParaRPr lang="en-US" sz="1250" dirty="0"/>
          </a:p>
        </p:txBody>
      </p:sp>
      <p:sp>
        <p:nvSpPr>
          <p:cNvPr id="28" name="Text 20"/>
          <p:cNvSpPr txBox="1"/>
          <p:nvPr/>
        </p:nvSpPr>
        <p:spPr>
          <a:xfrm>
            <a:off x="9006840" y="4983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Docstrings, READMEs, ADRs for big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Source control &amp; branching strategy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920240"/>
            <a:ext cx="10607040" cy="914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74320" y="14630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62456" y="1819656"/>
            <a:ext cx="201168" cy="201168"/>
          </a:xfrm>
          <a:prstGeom prst="ellipse">
            <a:avLst/>
          </a:prstGeom>
          <a:solidFill>
            <a:srgbClr val="3FA7D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642616" y="1819656"/>
            <a:ext cx="201168" cy="201168"/>
          </a:xfrm>
          <a:prstGeom prst="ellipse">
            <a:avLst/>
          </a:prstGeom>
          <a:solidFill>
            <a:srgbClr val="3FA7D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922776" y="1819656"/>
            <a:ext cx="201168" cy="201168"/>
          </a:xfrm>
          <a:prstGeom prst="ellipse">
            <a:avLst/>
          </a:prstGeom>
          <a:solidFill>
            <a:srgbClr val="3FA7D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83096" y="1819656"/>
            <a:ext cx="201168" cy="201168"/>
          </a:xfrm>
          <a:prstGeom prst="ellipse">
            <a:avLst/>
          </a:prstGeom>
          <a:solidFill>
            <a:srgbClr val="3FA7D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77656" y="1819656"/>
            <a:ext cx="201168" cy="201168"/>
          </a:xfrm>
          <a:prstGeom prst="ellipse">
            <a:avLst/>
          </a:prstGeom>
          <a:solidFill>
            <a:srgbClr val="3FA7D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689336" y="1819656"/>
            <a:ext cx="201168" cy="201168"/>
          </a:xfrm>
          <a:prstGeom prst="ellipse">
            <a:avLst/>
          </a:prstGeom>
          <a:solidFill>
            <a:srgbClr val="3FA7D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0" y="1097280"/>
            <a:ext cx="914" cy="82296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0" y="1097280"/>
            <a:ext cx="2103120" cy="914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914" cy="82296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66744" y="1014984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64024" y="1819656"/>
            <a:ext cx="201168" cy="201168"/>
          </a:xfrm>
          <a:prstGeom prst="ellipse">
            <a:avLst/>
          </a:prstGeom>
          <a:solidFill>
            <a:srgbClr val="63C7B2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2788920" y="6400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feature/trends-agent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788920" y="868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· squash-merged via PR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108960"/>
            <a:ext cx="2724912" cy="28346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9808" y="331012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429000"/>
            <a:ext cx="329184" cy="329184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749808" y="39502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Trunk-based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315968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Short-lived branches off main; merge daily. Avoid long-running divergence.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392424" y="3108960"/>
            <a:ext cx="2724912" cy="28346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3593592" y="331012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3429000"/>
            <a:ext cx="329184" cy="329184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3593592" y="39502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PRs + review</a:t>
            </a:r>
            <a:endParaRPr lang="en-US" sz="1400" dirty="0"/>
          </a:p>
        </p:txBody>
      </p:sp>
      <p:sp>
        <p:nvSpPr>
          <p:cNvPr id="29" name="Text 25"/>
          <p:cNvSpPr txBox="1"/>
          <p:nvPr/>
        </p:nvSpPr>
        <p:spPr>
          <a:xfrm>
            <a:off x="3593592" y="4315968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via Pull Request. At least one approval before merge.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6236208" y="3108960"/>
            <a:ext cx="2724912" cy="28346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6437376" y="331012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429000"/>
            <a:ext cx="329184" cy="329184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437376" y="39502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commits</a:t>
            </a:r>
            <a:endParaRPr lang="en-US" sz="1400" dirty="0"/>
          </a:p>
        </p:txBody>
      </p:sp>
      <p:sp>
        <p:nvSpPr>
          <p:cNvPr id="34" name="Text 29"/>
          <p:cNvSpPr txBox="1"/>
          <p:nvPr/>
        </p:nvSpPr>
        <p:spPr>
          <a:xfrm>
            <a:off x="6437376" y="4315968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feat:, fix:, chore: — readable history &amp; automated changelogs.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9079992" y="3108960"/>
            <a:ext cx="2724912" cy="2834640"/>
          </a:xfrm>
          <a:prstGeom prst="roundRect">
            <a:avLst>
              <a:gd name="adj" fmla="val 302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1"/>
          <p:cNvSpPr/>
          <p:nvPr/>
        </p:nvSpPr>
        <p:spPr>
          <a:xfrm>
            <a:off x="9281160" y="331012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2" y="3429000"/>
            <a:ext cx="329184" cy="329184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281160" y="395020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main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9281160" y="4315968"/>
            <a:ext cx="232257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pushes. CI must pass. Deploys come from main.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Test-Driven Development: red, green, refactor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94560" y="2926080"/>
            <a:ext cx="1645920" cy="1645920"/>
          </a:xfrm>
          <a:prstGeom prst="ellipse">
            <a:avLst/>
          </a:prstGeom>
          <a:solidFill>
            <a:srgbClr val="0F1E3D"/>
          </a:solidFill>
          <a:ln/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194560" y="292608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TDD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loop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4A259"/>
          </a:solidFill>
          <a:ln/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failing test first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0" y="219456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63C7B2"/>
          </a:solidFill>
          <a:ln/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840480" y="22860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84048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just enough code to pass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194560" y="480060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3FA7D6"/>
          </a:solidFill>
          <a:ln/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194560" y="4892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52120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it up, tests stay green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309360" y="1371600"/>
            <a:ext cx="530352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51052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691640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6510528" y="2212848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do TDD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510528" y="2578608"/>
            <a:ext cx="4901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become the spec — you design by using your own code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regressions instantly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small, testable units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to refactor &amp; let AI tools help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309360" y="3840480"/>
            <a:ext cx="53035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6510528" y="40416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4160520"/>
            <a:ext cx="329184" cy="329184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510528" y="4681728"/>
            <a:ext cx="4901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AI-agent code specifically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6510528" y="5047488"/>
            <a:ext cx="49011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the LLM — assert on the agent's decisions, not the model's prose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tool calls &amp; schema validation deterministically</a:t>
            </a:r>
            <a:endParaRPr lang="en-US" sz="1250" dirty="0"/>
          </a:p>
          <a:p>
            <a:pPr marL="152400" indent="-152400">
              <a:lnSpc>
                <a:spcPts val="165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Golden-set tests for summary quality over time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Unit, integration &amp; end-to-end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40280" y="1417320"/>
            <a:ext cx="1737360" cy="1234440"/>
          </a:xfrm>
          <a:prstGeom prst="triangle">
            <a:avLst/>
          </a:prstGeom>
          <a:solidFill>
            <a:srgbClr val="F4A259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2240280" y="21488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 rot="10800000">
            <a:off x="1508760" y="2697480"/>
            <a:ext cx="3200400" cy="1234440"/>
          </a:xfrm>
          <a:prstGeom prst="trapezoid">
            <a:avLst/>
          </a:prstGeom>
          <a:solidFill>
            <a:srgbClr val="1C7293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508760" y="3127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 rot="10800000">
            <a:off x="822960" y="3977640"/>
            <a:ext cx="4572000" cy="1371600"/>
          </a:xfrm>
          <a:prstGeom prst="trapezoid">
            <a:avLst/>
          </a:prstGeom>
          <a:solidFill>
            <a:srgbClr val="3FA7D6"/>
          </a:solidFill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417320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91072" y="16002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719072"/>
            <a:ext cx="310896" cy="31089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995160" y="16002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198424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or class in isolation. Milliseconds. The broad base — write the most here.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2990088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6291072" y="3172968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291840"/>
            <a:ext cx="310896" cy="310896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995160" y="3172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tests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995160" y="355701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DB, real queues, mocked LLM. Prove components talk correctly.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126480" y="4562856"/>
            <a:ext cx="54864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6291072" y="4745736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9944" y="4864608"/>
            <a:ext cx="310896" cy="310896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995160" y="474573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tests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6995160" y="512978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the real browser through sign-up → dashboard. Few but high-value.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left: the cheaper the test, the more of them — and run them on every commit.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0624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484632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4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3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2918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CI/CD, Infrastructure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&amp; Environments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800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git push to running in production — automated, repeatable, reversible.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CI/CD pipeline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764792" cy="2194560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38428" y="1965960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084832"/>
            <a:ext cx="347472" cy="34747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265176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01752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a branch, open a PR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318004" y="2697480"/>
            <a:ext cx="100584" cy="256032"/>
          </a:xfrm>
          <a:prstGeom prst="rightArrow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23160" y="1737360"/>
            <a:ext cx="1764792" cy="2194560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012948" y="1965960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1820" y="208483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2423160" y="265176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checks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2514600" y="301752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type · unit + integration tests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92524" y="2697480"/>
            <a:ext cx="100584" cy="256032"/>
          </a:xfrm>
          <a:prstGeom prst="rightArrow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297680" y="1737360"/>
            <a:ext cx="1764792" cy="2194560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887468" y="1965960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6340" y="208483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297680" y="265176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389120" y="301752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Coverage, security scan, code review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067044" y="2697480"/>
            <a:ext cx="100584" cy="256032"/>
          </a:xfrm>
          <a:prstGeom prst="rightArrow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172200" y="1737360"/>
            <a:ext cx="1764792" cy="2194560"/>
          </a:xfrm>
          <a:prstGeom prst="roundRect">
            <a:avLst>
              <a:gd name="adj" fmla="val 466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761988" y="1965960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0860" y="2084832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172200" y="265176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263640" y="301752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image, tagged &amp; signed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7941564" y="2697480"/>
            <a:ext cx="100584" cy="256032"/>
          </a:xfrm>
          <a:prstGeom prst="rightArrow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8046720" y="1737360"/>
            <a:ext cx="1764792" cy="2194560"/>
          </a:xfrm>
          <a:prstGeom prst="roundRect">
            <a:avLst>
              <a:gd name="adj" fmla="val 4663"/>
            </a:avLst>
          </a:prstGeom>
          <a:solidFill>
            <a:srgbClr val="0F1E3D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8636508" y="1965960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5380" y="2084832"/>
            <a:ext cx="347472" cy="347472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046720" y="265176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staging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8138160" y="301752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Auto-deploy, run E2E smoke tests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9816084" y="2697480"/>
            <a:ext cx="100584" cy="256032"/>
          </a:xfrm>
          <a:prstGeom prst="rightArrow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9921240" y="1737360"/>
            <a:ext cx="1764792" cy="2194560"/>
          </a:xfrm>
          <a:prstGeom prst="roundRect">
            <a:avLst>
              <a:gd name="adj" fmla="val 4663"/>
            </a:avLst>
          </a:prstGeom>
          <a:solidFill>
            <a:srgbClr val="0F1E3D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10511028" y="1965960"/>
            <a:ext cx="585216" cy="585216"/>
          </a:xfrm>
          <a:prstGeom prst="roundRect">
            <a:avLst>
              <a:gd name="adj" fmla="val 14063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9900" y="2084832"/>
            <a:ext cx="347472" cy="347472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9921240" y="2651760"/>
            <a:ext cx="1764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prod</a:t>
            </a:r>
            <a:endParaRPr lang="en-US" sz="1300" dirty="0"/>
          </a:p>
        </p:txBody>
      </p:sp>
      <p:sp>
        <p:nvSpPr>
          <p:cNvPr id="39" name="Text 31"/>
          <p:cNvSpPr txBox="1"/>
          <p:nvPr/>
        </p:nvSpPr>
        <p:spPr>
          <a:xfrm>
            <a:off x="10012680" y="3017520"/>
            <a:ext cx="1581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→ rolling release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before 'Deploy prod' is automatic. 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build blocks the merge — the pipeline is the gatekeeper, not a person.</a:t>
            </a:r>
            <a:endParaRPr lang="en-US" sz="1300" dirty="0"/>
          </a:p>
        </p:txBody>
      </p:sp>
      <p:sp>
        <p:nvSpPr>
          <p:cNvPr id="41" name="Shape 33"/>
          <p:cNvSpPr/>
          <p:nvPr/>
        </p:nvSpPr>
        <p:spPr>
          <a:xfrm>
            <a:off x="548640" y="48920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 txBox="1"/>
          <p:nvPr/>
        </p:nvSpPr>
        <p:spPr>
          <a:xfrm>
            <a:off x="777240" y="5029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3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Tooling: GitHub Actions (CI) · container registry · Vercel (frontend) · your cloud for services</a:t>
            </a:r>
            <a:endParaRPr lang="en-US" sz="1250" dirty="0"/>
          </a:p>
        </p:txBody>
      </p:sp>
      <p:sp>
        <p:nvSpPr>
          <p:cNvPr id="43" name="Text 35"/>
          <p:cNvSpPr txBox="1"/>
          <p:nvPr/>
        </p:nvSpPr>
        <p:spPr>
          <a:xfrm>
            <a:off x="777240" y="54406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 [pull_request]  →  jobs: lint → test → build → deploy-staging → (manual approve) → deploy-prod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777240" y="585216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fast, fix forward: if prod breaks, roll back to the last green image in one click.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Infrastructure as Code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21284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578608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Servers, databases, networks &amp; permissions are defined in version-controlled files — not clicked together by hand in a console.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440680" cy="219456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7336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916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73368" y="221284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wins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373368" y="2578608"/>
            <a:ext cx="50383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environments, peer-reviewed infra changes, instant rebuilds, and no 'works on that one server' mystery.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749040"/>
            <a:ext cx="272491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49808" y="39502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06908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49808" y="45902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749808" y="4956048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changes reviewed like code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392424" y="3749040"/>
            <a:ext cx="272491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3593592" y="39502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2464" y="406908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593592" y="45902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Repeatable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3593592" y="4956048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 up an identical env in minutes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236208" y="3749040"/>
            <a:ext cx="272491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6437376" y="39502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4069080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437376" y="45902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Disposable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437376" y="4956048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 down &amp; recreate without fear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9079992" y="3749040"/>
            <a:ext cx="2724912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9281160" y="39502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4069080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281160" y="4590288"/>
            <a:ext cx="23225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9281160" y="4956048"/>
            <a:ext cx="23225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tracked in git history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you'll see: </a:t>
            </a: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/ OpenTofu for cloud resources, Docker for containers, Helm/Kubernetes manifests for orchestration.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Dev → Staging → Production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30168" cy="4754880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630168" cy="91440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627632"/>
            <a:ext cx="402336" cy="4023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371600"/>
            <a:ext cx="2715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Development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514600"/>
            <a:ext cx="3127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laptop / cloud dev box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for local services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data, mocked LLM optional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things freely here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61688" y="1371600"/>
            <a:ext cx="3630168" cy="4754880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361688" y="1371600"/>
            <a:ext cx="3630168" cy="914400"/>
          </a:xfrm>
          <a:prstGeom prst="roundRect">
            <a:avLst>
              <a:gd name="adj" fmla="val 10000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62763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84648" y="1371600"/>
            <a:ext cx="2715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Staging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636008" y="2514600"/>
            <a:ext cx="3127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of production, smaller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integrations, test data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&amp; smoke tests run here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gate before users see it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174736" y="1371600"/>
            <a:ext cx="3630168" cy="4754880"/>
          </a:xfrm>
          <a:prstGeom prst="roundRect">
            <a:avLst>
              <a:gd name="adj" fmla="val 251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174736" y="1371600"/>
            <a:ext cx="3630168" cy="914400"/>
          </a:xfrm>
          <a:prstGeom prst="roundRect">
            <a:avLst>
              <a:gd name="adj" fmla="val 10000"/>
            </a:avLst>
          </a:prstGeom>
          <a:solidFill>
            <a:srgbClr val="0F1E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9056" y="1627632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997696" y="1371600"/>
            <a:ext cx="27157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Production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8449056" y="2514600"/>
            <a:ext cx="312724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users, real money, real data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Zero-downtime rolling deploys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down; access audited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24/7, on-call rotation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0624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484632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5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3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WELL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2918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Observability, Security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&amp; Staying Alive at Scale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800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is the start. Operating reliably and securely is the job.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Monitoring, logging &amp; the 3 pillars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30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21284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578608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over time — latency, error rate, queue depth, tokens used.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1371600"/>
            <a:ext cx="3630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62856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6916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62856" y="221284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62856" y="2578608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event records. Searchable, correlated by request ID.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74736" y="1371600"/>
            <a:ext cx="3630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75904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16916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75904" y="221284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375904" y="2578608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request's path across services — plus every agent step (Langfuse).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11064240" cy="2331720"/>
          </a:xfrm>
          <a:prstGeom prst="roundRect">
            <a:avLst>
              <a:gd name="adj" fmla="val 3529"/>
            </a:avLst>
          </a:prstGeom>
          <a:solidFill>
            <a:srgbClr val="0F1E3D"/>
          </a:solidFill>
          <a:ln/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77724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3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principles you'll live by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777240" y="4526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777240" y="48920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metric users feel — e.g. dashboard load time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3520440" y="4526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3520440" y="48920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for that metric — e.g. 99.9% under 500ms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6263640" y="4526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budget</a:t>
            </a:r>
            <a:endParaRPr lang="en-US" sz="1400" dirty="0"/>
          </a:p>
        </p:txBody>
      </p:sp>
      <p:sp>
        <p:nvSpPr>
          <p:cNvPr id="27" name="Text 22"/>
          <p:cNvSpPr txBox="1"/>
          <p:nvPr/>
        </p:nvSpPr>
        <p:spPr>
          <a:xfrm>
            <a:off x="6263640" y="48920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Allowed failure. Spend it on features, not firefighting</a:t>
            </a:r>
            <a:endParaRPr lang="en-US" sz="1150" dirty="0"/>
          </a:p>
        </p:txBody>
      </p:sp>
      <p:sp>
        <p:nvSpPr>
          <p:cNvPr id="28" name="Text 23"/>
          <p:cNvSpPr txBox="1"/>
          <p:nvPr/>
        </p:nvSpPr>
        <p:spPr>
          <a:xfrm>
            <a:off x="9006840" y="4526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on symptoms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9006840" y="48920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on user pain, not every CPU blip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Security &amp; compliance — shift left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F1E3D"/>
          </a:solidFill>
          <a:ln/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72768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81328" y="146304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63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Shift-left: </a:t>
            </a: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security in from the first commit — scan dependencies, secrets, and code in CI — instead of bolting it on before launch.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36301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49808" y="28072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926080"/>
            <a:ext cx="329184" cy="32918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49808" y="344728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</a:t>
            </a:r>
            <a:endParaRPr lang="en-US" sz="13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81304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Clerk-issued auth, RBAC per role, least privilege everywhere.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361688" y="2606040"/>
            <a:ext cx="36301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562856" y="28072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1728" y="2926080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62856" y="344728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4562856" y="381304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in transit, encryption at rest, secrets in a vault — never in code.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174736" y="2606040"/>
            <a:ext cx="36301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375904" y="28072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776" y="2926080"/>
            <a:ext cx="329184" cy="32918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375904" y="344728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scanning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8375904" y="381304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dependency &amp; secret scans as CI quality gates.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548640" y="4434840"/>
            <a:ext cx="36301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749808" y="46360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754880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49808" y="527608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749808" y="564184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 robots.txt &amp; source terms; audit logs; data-retention policy.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4361688" y="4434840"/>
            <a:ext cx="36301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4562856" y="46360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9B8C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81728" y="4754880"/>
            <a:ext cx="329184" cy="329184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4562856" y="527608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AI-specific risks</a:t>
            </a:r>
            <a:endParaRPr lang="en-US" sz="1350" dirty="0"/>
          </a:p>
        </p:txBody>
      </p:sp>
      <p:sp>
        <p:nvSpPr>
          <p:cNvPr id="32" name="Text 24"/>
          <p:cNvSpPr txBox="1"/>
          <p:nvPr/>
        </p:nvSpPr>
        <p:spPr>
          <a:xfrm>
            <a:off x="4562856" y="564184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Prompt-injection defense, output validation, no PII to third-party models.</a:t>
            </a:r>
            <a:endParaRPr lang="en-US" sz="1150" dirty="0"/>
          </a:p>
        </p:txBody>
      </p:sp>
      <p:sp>
        <p:nvSpPr>
          <p:cNvPr id="33" name="Shape 25"/>
          <p:cNvSpPr/>
          <p:nvPr/>
        </p:nvSpPr>
        <p:spPr>
          <a:xfrm>
            <a:off x="8174736" y="4434840"/>
            <a:ext cx="363016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8375904" y="46360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4776" y="4754880"/>
            <a:ext cx="329184" cy="329184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8375904" y="527608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350" dirty="0"/>
          </a:p>
        </p:txBody>
      </p:sp>
      <p:sp>
        <p:nvSpPr>
          <p:cNvPr id="37" name="Text 28"/>
          <p:cNvSpPr txBox="1"/>
          <p:nvPr/>
        </p:nvSpPr>
        <p:spPr>
          <a:xfrm>
            <a:off x="8375904" y="5641848"/>
            <a:ext cx="3227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agent actions require human-in-the-loop approval.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Maintenance &amp; support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21284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current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578608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dependencies, rotate keys, retrain/re-eval prompts as models change.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137160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37336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6916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373368" y="221284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6373368" y="2578608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rotation, runbooks, blameless post-mortems after every incident.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749808" y="40416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416052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49808" y="468172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loop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749808" y="5047488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issues → triage → ticket → fix → verify. Feedback shapes the backlog.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72200" y="3840480"/>
            <a:ext cx="544068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373368" y="40416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416052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373368" y="4681728"/>
            <a:ext cx="5038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Tech-debt budget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6373368" y="5047488"/>
            <a:ext cx="5038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sprint capacity for refactors; debt ignored compounds fast.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0624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509760" y="484632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1C7293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Part 6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63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SMARTER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3291840"/>
            <a:ext cx="8412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Modern AI-Era</a:t>
            </a:r>
            <a:endParaRPr lang="en-US" sz="4000" dirty="0"/>
          </a:p>
          <a:p>
            <a:pPr marL="0" indent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Engineering Practices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4800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force-multipliers: AI-assisted development, agentic patterns, and cloud-native design.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AI-assisted development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30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21284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578608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coding in your terminal/IDE — delegate whole tasks, not just autocomplete.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1371600"/>
            <a:ext cx="3630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62856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6916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62856" y="221284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62856" y="2578608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suggestions &amp; chat while you type. Great for boilerplate and tests.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74736" y="1371600"/>
            <a:ext cx="3630168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375904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4776" y="16916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75904" y="2212848"/>
            <a:ext cx="3227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agents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375904" y="2578608"/>
            <a:ext cx="32278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off a ticket; the agent opens a PR you review. You stay the pilot.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548640" y="3840480"/>
            <a:ext cx="1106424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 txBox="1"/>
          <p:nvPr/>
        </p:nvSpPr>
        <p:spPr>
          <a:xfrm>
            <a:off x="77724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them well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777240" y="4526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608576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71600" y="4553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822960" y="50292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every line before you commit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AI draft tests, docs &amp; boilerplate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context: files, standards, examples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309360" y="45262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1656" y="4608576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903720" y="45537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355080" y="50292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secrets or customer data into prompts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code you don't understand</a:t>
            </a:r>
            <a:endParaRPr lang="en-US" sz="12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output without running the tests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Agentic, cloud-native &amp; API-first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724912" cy="47548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6916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224028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architecture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971800"/>
            <a:ext cx="234086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= planner + tools + memory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 as graphs (ADK)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from data via MCP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Observable &amp; interruptible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92424" y="1371600"/>
            <a:ext cx="2724912" cy="47548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93592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16916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93592" y="224028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Cloud-native</a:t>
            </a:r>
            <a:endParaRPr lang="en-US" sz="1450" dirty="0"/>
          </a:p>
        </p:txBody>
      </p:sp>
      <p:sp>
        <p:nvSpPr>
          <p:cNvPr id="14" name="Text 10"/>
          <p:cNvSpPr txBox="1"/>
          <p:nvPr/>
        </p:nvSpPr>
        <p:spPr>
          <a:xfrm>
            <a:off x="3593592" y="2971800"/>
            <a:ext cx="234086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+ orchestration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 services, scale to load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data services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to node failure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36208" y="1371600"/>
            <a:ext cx="2724912" cy="47548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6437376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16916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37376" y="224028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450" dirty="0"/>
          </a:p>
        </p:txBody>
      </p:sp>
      <p:sp>
        <p:nvSpPr>
          <p:cNvPr id="19" name="Text 14"/>
          <p:cNvSpPr txBox="1"/>
          <p:nvPr/>
        </p:nvSpPr>
        <p:spPr>
          <a:xfrm>
            <a:off x="6437376" y="2971800"/>
            <a:ext cx="234086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services, one job each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scale independently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is isolated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— don't over-split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79992" y="1371600"/>
            <a:ext cx="2724912" cy="475488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9281160" y="157276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00032" y="169164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81160" y="2240280"/>
            <a:ext cx="23591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</a:t>
            </a:r>
            <a:endParaRPr lang="en-US" sz="1450" dirty="0"/>
          </a:p>
        </p:txBody>
      </p:sp>
      <p:sp>
        <p:nvSpPr>
          <p:cNvPr id="24" name="Text 18"/>
          <p:cNvSpPr txBox="1"/>
          <p:nvPr/>
        </p:nvSpPr>
        <p:spPr>
          <a:xfrm>
            <a:off x="9281160" y="2971800"/>
            <a:ext cx="234086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contract before code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schema is the source of truth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agents consume same API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&amp; documented</a:t>
            </a:r>
            <a:endParaRPr lang="en-US" sz="12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B9AC86EB-42B3-C272-B871-9C82CF2FE7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Common challenges &amp; best practices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WISDOM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85800" y="1572768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6916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499616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AI  </a:t>
            </a: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input, different output.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60720" y="1737360"/>
            <a:ext cx="320040" cy="201168"/>
          </a:xfrm>
          <a:prstGeom prst="rightArrow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6263640" y="1499616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4A2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versions, validate outputs with Pydantic, use golden-set eval tests.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395728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" y="2596896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715768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71600" y="2523744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Runaway LLM cost  </a:t>
            </a: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add up fast at scale.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5760720" y="2761488"/>
            <a:ext cx="320040" cy="201168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6263640" y="2523744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Cache, batch, set per-agent budgets, pick cheaper models per task.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341985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85800" y="3621024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3739896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371600" y="354787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feedback loops  </a:t>
            </a: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 kills momentum.</a:t>
            </a:r>
            <a:endParaRPr lang="en-US" sz="1350" dirty="0"/>
          </a:p>
        </p:txBody>
      </p:sp>
      <p:sp>
        <p:nvSpPr>
          <p:cNvPr id="21" name="Shape 16"/>
          <p:cNvSpPr/>
          <p:nvPr/>
        </p:nvSpPr>
        <p:spPr>
          <a:xfrm>
            <a:off x="5760720" y="3785616"/>
            <a:ext cx="320040" cy="201168"/>
          </a:xfrm>
          <a:prstGeom prst="rightArrow">
            <a:avLst/>
          </a:prstGeom>
          <a:solidFill>
            <a:srgbClr val="3FA7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6263640" y="354787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CI, local mocks for the LLM, small PRs merged daily.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444398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85800" y="464515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4764024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572000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Over-engineering  </a:t>
            </a: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for scale you don't have.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5760720" y="4809744"/>
            <a:ext cx="320040" cy="201168"/>
          </a:xfrm>
          <a:prstGeom prst="rightArrow">
            <a:avLst/>
          </a:prstGeom>
          <a:solidFill>
            <a:srgbClr val="63C7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2"/>
          <p:cNvSpPr txBox="1"/>
          <p:nvPr/>
        </p:nvSpPr>
        <p:spPr>
          <a:xfrm>
            <a:off x="6263640" y="45720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63C7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simple; add microservices &amp; caches when data demands it.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548640" y="546811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685800" y="566928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9B8CC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5788152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371600" y="5596128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failures  </a:t>
            </a:r>
            <a:r>
              <a:rPr lang="en-US" sz="1100" dirty="0">
                <a:solidFill>
                  <a:srgbClr val="6B7A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fail quietly, not loudly.</a:t>
            </a:r>
            <a:endParaRPr lang="en-US" sz="1350" dirty="0"/>
          </a:p>
        </p:txBody>
      </p:sp>
      <p:sp>
        <p:nvSpPr>
          <p:cNvPr id="33" name="Shape 26"/>
          <p:cNvSpPr/>
          <p:nvPr/>
        </p:nvSpPr>
        <p:spPr>
          <a:xfrm>
            <a:off x="5760720" y="5833872"/>
            <a:ext cx="320040" cy="201168"/>
          </a:xfrm>
          <a:prstGeom prst="rightArrow">
            <a:avLst/>
          </a:prstGeom>
          <a:solidFill>
            <a:srgbClr val="9B8CC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7"/>
          <p:cNvSpPr txBox="1"/>
          <p:nvPr/>
        </p:nvSpPr>
        <p:spPr>
          <a:xfrm>
            <a:off x="6263640" y="5596128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9B8C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 </a:t>
            </a: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everything, alert on symptoms, add human-in-the-loop gates.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E3D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enhancements &amp; scaling strategy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064240" y="18288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F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roadmap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83664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7373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Digests &amp; newsletters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1737360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1883664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886200" y="173736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prediction engine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2450592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596896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24505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monitoring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3337560" y="2450592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2596896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3886200" y="24505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48640" y="3163824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31012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097280" y="31638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50" dirty="0"/>
          </a:p>
        </p:txBody>
      </p:sp>
      <p:sp>
        <p:nvSpPr>
          <p:cNvPr id="21" name="Shape 14"/>
          <p:cNvSpPr/>
          <p:nvPr/>
        </p:nvSpPr>
        <p:spPr>
          <a:xfrm>
            <a:off x="3337560" y="3163824"/>
            <a:ext cx="265176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2152" y="3310128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3886200" y="31638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 support</a:t>
            </a:r>
            <a:endParaRPr lang="en-US" sz="1150" dirty="0"/>
          </a:p>
        </p:txBody>
      </p:sp>
      <p:sp>
        <p:nvSpPr>
          <p:cNvPr id="24" name="Shape 16"/>
          <p:cNvSpPr/>
          <p:nvPr/>
        </p:nvSpPr>
        <p:spPr>
          <a:xfrm>
            <a:off x="6309360" y="1280160"/>
            <a:ext cx="5303520" cy="4892040"/>
          </a:xfrm>
          <a:prstGeom prst="roundRect">
            <a:avLst>
              <a:gd name="adj" fmla="val 1869"/>
            </a:avLst>
          </a:prstGeom>
          <a:solidFill>
            <a:srgbClr val="0F1E3D"/>
          </a:solidFill>
          <a:ln/>
          <a:effectLst>
            <a:outerShdw blurRad="101600" dist="38100" dir="5400000" algn="bl" rotWithShape="0">
              <a:srgbClr val="0A122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1508760"/>
            <a:ext cx="457200" cy="45720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086600" y="14813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Scaling strategy</a:t>
            </a:r>
            <a:endParaRPr lang="en-US" sz="1900" dirty="0"/>
          </a:p>
        </p:txBody>
      </p:sp>
      <p:sp>
        <p:nvSpPr>
          <p:cNvPr id="27" name="Text 18"/>
          <p:cNvSpPr txBox="1"/>
          <p:nvPr/>
        </p:nvSpPr>
        <p:spPr>
          <a:xfrm>
            <a:off x="6583680" y="2148840"/>
            <a:ext cx="48463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reads with caching &amp; CDN before scaling databases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Celery workers horizontally as source count grows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Shard vector &amp; search indexes as the corpus expands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 service out only when it becomes a bottleneck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Autoscale on real metrics (queue depth, latency), not guesses</a:t>
            </a:r>
            <a:endParaRPr lang="en-US" sz="130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Load-test before you need to, not after you're paged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F1E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4023360"/>
            <a:ext cx="3200400" cy="3200400"/>
          </a:xfrm>
          <a:prstGeom prst="roundRect">
            <a:avLst>
              <a:gd name="adj" fmla="val 8571"/>
            </a:avLst>
          </a:prstGeom>
          <a:solidFill>
            <a:srgbClr val="0B2E4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01200" y="4937760"/>
            <a:ext cx="3017520" cy="3017520"/>
          </a:xfrm>
          <a:prstGeom prst="roundRect">
            <a:avLst>
              <a:gd name="adj" fmla="val 9091"/>
            </a:avLst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1242204" y="2103120"/>
            <a:ext cx="8560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606040"/>
            <a:ext cx="8961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2584</Words>
  <Application>Microsoft Office PowerPoint</Application>
  <PresentationFormat>Widescreen</PresentationFormat>
  <Paragraphs>460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Century Schoolbook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Dhamu Packiriswamy</cp:lastModifiedBy>
  <cp:revision>3</cp:revision>
  <dcterms:created xsi:type="dcterms:W3CDTF">2026-08-30T02:10:35Z</dcterms:created>
  <dcterms:modified xsi:type="dcterms:W3CDTF">2026-08-30T03:42:10Z</dcterms:modified>
</cp:coreProperties>
</file>